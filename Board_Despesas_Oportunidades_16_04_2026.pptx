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7920"/>
    <a:srgbClr val="2C2A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>
      <p:cViewPr varScale="1">
        <p:scale>
          <a:sx n="64" d="100"/>
          <a:sy n="64" d="100"/>
        </p:scale>
        <p:origin x="77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erson Lampada" userId="9d0f3f4075e52659" providerId="LiveId" clId="{92EF2085-AE1A-4F1C-8C28-F45AE6DD976D}"/>
    <pc:docChg chg="custSel addSld delSld modSld">
      <pc:chgData name="Emerson Lampada" userId="9d0f3f4075e52659" providerId="LiveId" clId="{92EF2085-AE1A-4F1C-8C28-F45AE6DD976D}" dt="2026-04-14T20:53:16.326" v="97" actId="47"/>
      <pc:docMkLst>
        <pc:docMk/>
      </pc:docMkLst>
      <pc:sldChg chg="addSp delSp modSp new del mod">
        <pc:chgData name="Emerson Lampada" userId="9d0f3f4075e52659" providerId="LiveId" clId="{92EF2085-AE1A-4F1C-8C28-F45AE6DD976D}" dt="2026-04-14T20:52:42.413" v="58" actId="47"/>
        <pc:sldMkLst>
          <pc:docMk/>
          <pc:sldMk cId="798320417" sldId="287"/>
        </pc:sldMkLst>
        <pc:spChg chg="del">
          <ac:chgData name="Emerson Lampada" userId="9d0f3f4075e52659" providerId="LiveId" clId="{92EF2085-AE1A-4F1C-8C28-F45AE6DD976D}" dt="2026-04-14T20:42:18.912" v="6" actId="478"/>
          <ac:spMkLst>
            <pc:docMk/>
            <pc:sldMk cId="798320417" sldId="287"/>
            <ac:spMk id="2" creationId="{C58B6C14-49CE-9F30-A158-6F4973ED9619}"/>
          </ac:spMkLst>
        </pc:spChg>
        <pc:spChg chg="del">
          <ac:chgData name="Emerson Lampada" userId="9d0f3f4075e52659" providerId="LiveId" clId="{92EF2085-AE1A-4F1C-8C28-F45AE6DD976D}" dt="2026-04-14T20:42:00.628" v="2" actId="478"/>
          <ac:spMkLst>
            <pc:docMk/>
            <pc:sldMk cId="798320417" sldId="287"/>
            <ac:spMk id="3" creationId="{2588344B-EC9E-FCA6-3E85-230E694AC462}"/>
          </ac:spMkLst>
        </pc:spChg>
        <pc:picChg chg="add mod">
          <ac:chgData name="Emerson Lampada" userId="9d0f3f4075e52659" providerId="LiveId" clId="{92EF2085-AE1A-4F1C-8C28-F45AE6DD976D}" dt="2026-04-14T20:42:13.651" v="5" actId="1076"/>
          <ac:picMkLst>
            <pc:docMk/>
            <pc:sldMk cId="798320417" sldId="287"/>
            <ac:picMk id="5" creationId="{6EC36C14-474B-426F-7600-EDEA32C98A3B}"/>
          </ac:picMkLst>
        </pc:picChg>
      </pc:sldChg>
      <pc:sldChg chg="del">
        <pc:chgData name="Emerson Lampada" userId="9d0f3f4075e52659" providerId="LiveId" clId="{92EF2085-AE1A-4F1C-8C28-F45AE6DD976D}" dt="2026-04-14T20:40:15.216" v="0" actId="47"/>
        <pc:sldMkLst>
          <pc:docMk/>
          <pc:sldMk cId="3697893240" sldId="287"/>
        </pc:sldMkLst>
      </pc:sldChg>
      <pc:sldChg chg="addSp delSp modSp new del mod">
        <pc:chgData name="Emerson Lampada" userId="9d0f3f4075e52659" providerId="LiveId" clId="{92EF2085-AE1A-4F1C-8C28-F45AE6DD976D}" dt="2026-04-14T20:53:16.326" v="97" actId="47"/>
        <pc:sldMkLst>
          <pc:docMk/>
          <pc:sldMk cId="159572280" sldId="288"/>
        </pc:sldMkLst>
        <pc:spChg chg="del">
          <ac:chgData name="Emerson Lampada" userId="9d0f3f4075e52659" providerId="LiveId" clId="{92EF2085-AE1A-4F1C-8C28-F45AE6DD976D}" dt="2026-04-14T20:42:47.293" v="8" actId="478"/>
          <ac:spMkLst>
            <pc:docMk/>
            <pc:sldMk cId="159572280" sldId="288"/>
            <ac:spMk id="3" creationId="{F8D57793-9EF7-6931-6A0D-31D444B45741}"/>
          </ac:spMkLst>
        </pc:spChg>
        <pc:picChg chg="add mod">
          <ac:chgData name="Emerson Lampada" userId="9d0f3f4075e52659" providerId="LiveId" clId="{92EF2085-AE1A-4F1C-8C28-F45AE6DD976D}" dt="2026-04-14T20:51:26.360" v="12" actId="1076"/>
          <ac:picMkLst>
            <pc:docMk/>
            <pc:sldMk cId="159572280" sldId="288"/>
            <ac:picMk id="5" creationId="{EB71D49D-52E1-858A-1749-C9E46061749C}"/>
          </ac:picMkLst>
        </pc:picChg>
      </pc:sldChg>
      <pc:sldChg chg="addSp delSp modSp add mod">
        <pc:chgData name="Emerson Lampada" userId="9d0f3f4075e52659" providerId="LiveId" clId="{92EF2085-AE1A-4F1C-8C28-F45AE6DD976D}" dt="2026-04-14T20:52:38.533" v="57" actId="1076"/>
        <pc:sldMkLst>
          <pc:docMk/>
          <pc:sldMk cId="2654235726" sldId="289"/>
        </pc:sldMkLst>
        <pc:spChg chg="mod">
          <ac:chgData name="Emerson Lampada" userId="9d0f3f4075e52659" providerId="LiveId" clId="{92EF2085-AE1A-4F1C-8C28-F45AE6DD976D}" dt="2026-04-14T20:52:23.068" v="55" actId="20577"/>
          <ac:spMkLst>
            <pc:docMk/>
            <pc:sldMk cId="2654235726" sldId="289"/>
            <ac:spMk id="7" creationId="{68096583-BC87-28D1-3418-37BA3967F310}"/>
          </ac:spMkLst>
        </pc:spChg>
        <pc:picChg chg="add mod">
          <ac:chgData name="Emerson Lampada" userId="9d0f3f4075e52659" providerId="LiveId" clId="{92EF2085-AE1A-4F1C-8C28-F45AE6DD976D}" dt="2026-04-14T20:52:38.533" v="57" actId="1076"/>
          <ac:picMkLst>
            <pc:docMk/>
            <pc:sldMk cId="2654235726" sldId="289"/>
            <ac:picMk id="8" creationId="{58E8CD6E-152A-E06E-D3E4-B196BCCBA5F0}"/>
          </ac:picMkLst>
        </pc:picChg>
        <pc:picChg chg="del">
          <ac:chgData name="Emerson Lampada" userId="9d0f3f4075e52659" providerId="LiveId" clId="{92EF2085-AE1A-4F1C-8C28-F45AE6DD976D}" dt="2026-04-14T20:52:09.966" v="15" actId="478"/>
          <ac:picMkLst>
            <pc:docMk/>
            <pc:sldMk cId="2654235726" sldId="289"/>
            <ac:picMk id="14" creationId="{FC0618C1-D65B-FFF4-58EB-7FEE3F670A03}"/>
          </ac:picMkLst>
        </pc:picChg>
        <pc:picChg chg="del">
          <ac:chgData name="Emerson Lampada" userId="9d0f3f4075e52659" providerId="LiveId" clId="{92EF2085-AE1A-4F1C-8C28-F45AE6DD976D}" dt="2026-04-14T20:52:10.712" v="16" actId="478"/>
          <ac:picMkLst>
            <pc:docMk/>
            <pc:sldMk cId="2654235726" sldId="289"/>
            <ac:picMk id="16" creationId="{5BA249CA-2ECB-75F7-65D5-A593ECD35EAB}"/>
          </ac:picMkLst>
        </pc:picChg>
        <pc:picChg chg="del">
          <ac:chgData name="Emerson Lampada" userId="9d0f3f4075e52659" providerId="LiveId" clId="{92EF2085-AE1A-4F1C-8C28-F45AE6DD976D}" dt="2026-04-14T20:52:11.537" v="17" actId="478"/>
          <ac:picMkLst>
            <pc:docMk/>
            <pc:sldMk cId="2654235726" sldId="289"/>
            <ac:picMk id="18" creationId="{6C1A547A-E6BE-236B-5955-EB4F67B507B6}"/>
          </ac:picMkLst>
        </pc:picChg>
      </pc:sldChg>
      <pc:sldChg chg="addSp delSp modSp add mod">
        <pc:chgData name="Emerson Lampada" userId="9d0f3f4075e52659" providerId="LiveId" clId="{92EF2085-AE1A-4F1C-8C28-F45AE6DD976D}" dt="2026-04-14T20:53:13.567" v="96" actId="1076"/>
        <pc:sldMkLst>
          <pc:docMk/>
          <pc:sldMk cId="729990412" sldId="290"/>
        </pc:sldMkLst>
        <pc:spChg chg="mod">
          <ac:chgData name="Emerson Lampada" userId="9d0f3f4075e52659" providerId="LiveId" clId="{92EF2085-AE1A-4F1C-8C28-F45AE6DD976D}" dt="2026-04-14T20:52:57.867" v="94" actId="20577"/>
          <ac:spMkLst>
            <pc:docMk/>
            <pc:sldMk cId="729990412" sldId="290"/>
            <ac:spMk id="7" creationId="{B9EC54B3-789F-7F77-6974-63B2F87B482C}"/>
          </ac:spMkLst>
        </pc:spChg>
        <pc:picChg chg="add mod">
          <ac:chgData name="Emerson Lampada" userId="9d0f3f4075e52659" providerId="LiveId" clId="{92EF2085-AE1A-4F1C-8C28-F45AE6DD976D}" dt="2026-04-14T20:53:13.567" v="96" actId="1076"/>
          <ac:picMkLst>
            <pc:docMk/>
            <pc:sldMk cId="729990412" sldId="290"/>
            <ac:picMk id="8" creationId="{90E84703-47AD-2E23-3D5B-1B9CD625B7E2}"/>
          </ac:picMkLst>
        </pc:picChg>
        <pc:picChg chg="del">
          <ac:chgData name="Emerson Lampada" userId="9d0f3f4075e52659" providerId="LiveId" clId="{92EF2085-AE1A-4F1C-8C28-F45AE6DD976D}" dt="2026-04-14T20:52:45.360" v="59" actId="478"/>
          <ac:picMkLst>
            <pc:docMk/>
            <pc:sldMk cId="729990412" sldId="290"/>
            <ac:picMk id="14" creationId="{8D0DAF5F-2130-ACAC-38AB-DDD60EA15689}"/>
          </ac:picMkLst>
        </pc:picChg>
        <pc:picChg chg="del">
          <ac:chgData name="Emerson Lampada" userId="9d0f3f4075e52659" providerId="LiveId" clId="{92EF2085-AE1A-4F1C-8C28-F45AE6DD976D}" dt="2026-04-14T20:52:46.303" v="60" actId="478"/>
          <ac:picMkLst>
            <pc:docMk/>
            <pc:sldMk cId="729990412" sldId="290"/>
            <ac:picMk id="16" creationId="{4A604220-20A3-1B01-E422-D103A08B332D}"/>
          </ac:picMkLst>
        </pc:picChg>
        <pc:picChg chg="del">
          <ac:chgData name="Emerson Lampada" userId="9d0f3f4075e52659" providerId="LiveId" clId="{92EF2085-AE1A-4F1C-8C28-F45AE6DD976D}" dt="2026-04-14T20:52:46.910" v="61" actId="478"/>
          <ac:picMkLst>
            <pc:docMk/>
            <pc:sldMk cId="729990412" sldId="290"/>
            <ac:picMk id="18" creationId="{79C54FD3-E9E0-1D2B-21D3-BB2D8F01248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79253B-2936-4E85-A3E1-E25A311DD535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A5BCF-B955-4B20-804E-F251967E59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382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A5BCF-B955-4B20-804E-F251967E5911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1912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40C03-6343-518D-4B8E-BC0CD6415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FB8BF7E-390B-C0C2-86CD-9E32BB160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4815B95-DA50-7736-86D0-C1A652980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61317B-1E1B-6F6C-AF6C-FAC49E369A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A5BCF-B955-4B20-804E-F251967E5911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5931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ACA78-7B46-262A-5C43-62EB58CE8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75B8256-4D1D-B227-9699-A690027D9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1FB5EF2-C4D5-508E-BA97-5EC92555C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7E860B5-DC97-A6B9-1D72-C1CD69C19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A5BCF-B955-4B20-804E-F251967E5911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8397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68F34-D78E-39FD-AA80-909DADB10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2B7BE1C-14B6-39FC-5A2E-EEEABFA447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7FFCA98-876D-2103-3F31-812AF210D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5EDA316-A9AB-C14E-7397-F8134A40E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A5BCF-B955-4B20-804E-F251967E591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8370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22600" y="4832677"/>
            <a:ext cx="10458898" cy="1944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 u="sng">
                <a:solidFill>
                  <a:srgbClr val="2C2A29"/>
                </a:solidFill>
                <a:latin typeface="Gotham Ultra"/>
                <a:cs typeface="Gotham Ult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Gotham Book"/>
                <a:cs typeface="Gotham Boo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 u="sng">
                <a:solidFill>
                  <a:srgbClr val="2C2A29"/>
                </a:solidFill>
                <a:latin typeface="Gotham Ultra"/>
                <a:cs typeface="Gotham Ult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Gotham Book"/>
                <a:cs typeface="Gotham Boo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 u="sng">
                <a:solidFill>
                  <a:srgbClr val="2C2A29"/>
                </a:solidFill>
                <a:latin typeface="Gotham Ultra"/>
                <a:cs typeface="Gotham Ult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 u="sng">
                <a:solidFill>
                  <a:srgbClr val="2C2A29"/>
                </a:solidFill>
                <a:latin typeface="Gotham Ultra"/>
                <a:cs typeface="Gotham Ult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2C2A2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86642" y="703990"/>
            <a:ext cx="13972462" cy="1549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 u="sng">
                <a:solidFill>
                  <a:srgbClr val="2C2A29"/>
                </a:solidFill>
                <a:latin typeface="Gotham Ultra"/>
                <a:cs typeface="Gotham Ult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9876" y="5557808"/>
            <a:ext cx="8180069" cy="41090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Gotham Book"/>
                <a:cs typeface="Gotham Boo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900000" y="700000"/>
            <a:ext cx="180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30000" rIns="30000" bIns="30000"/>
          <a:lstStyle/>
          <a:p>
            <a:pPr marL="0" indent="0"/>
            <a:r>
              <a:rPr lang="pt-BR" sz="2900" b="1">
                <a:solidFill>
                  <a:srgbClr val="17324C"/>
                </a:solidFill>
                <a:latin typeface="Aptos"/>
                <a:cs typeface="Aptos"/>
              </a:rPr>
              <a:t>Board de Despesas Atuais</a:t>
            </a:r>
            <a:endParaRPr lang="pt-BR" sz="2900"/>
          </a:p>
          <a:p>
            <a:pPr marL="0" indent="0"/>
            <a:r>
              <a:rPr lang="pt-BR" sz="1700">
                <a:solidFill>
                  <a:srgbClr val="6B7280"/>
                </a:solidFill>
                <a:latin typeface="Aptos"/>
                <a:cs typeface="Aptos"/>
              </a:rPr>
              <a:t>Estrutura até 15/04/2026 e oportunidades de redução</a:t>
            </a:r>
            <a:endParaRPr lang="pt-BR" sz="1700"/>
          </a:p>
        </p:txBody>
      </p:sp>
      <p:sp>
        <p:nvSpPr>
          <p:cNvPr id="3" name="A"/>
          <p:cNvSpPr txBox="1"/>
          <p:nvPr/>
        </p:nvSpPr>
        <p:spPr>
          <a:xfrm>
            <a:off x="900000" y="2200000"/>
            <a:ext cx="5600000" cy="26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00" b="1">
                <a:solidFill>
                  <a:srgbClr val="6B7280"/>
                </a:solidFill>
                <a:latin typeface="Aptos"/>
                <a:cs typeface="Aptos"/>
              </a:rPr>
              <a:t>Estrutura YTD</a:t>
            </a:r>
            <a:endParaRPr lang="pt-BR" sz="1600"/>
          </a:p>
          <a:p>
            <a:pPr marL="0" indent="0"/>
            <a:r>
              <a:rPr lang="pt-BR" sz="2700" b="1">
                <a:solidFill>
                  <a:srgbClr val="17324C"/>
                </a:solidFill>
                <a:latin typeface="Aptos"/>
                <a:cs typeface="Aptos"/>
              </a:rPr>
              <a:t>R$ 13,36 mi</a:t>
            </a:r>
            <a:endParaRPr lang="pt-BR" sz="2700"/>
          </a:p>
          <a:p>
            <a:pPr marL="0" indent="0"/>
            <a:r>
              <a:rPr lang="pt-BR" sz="1350">
                <a:solidFill>
                  <a:srgbClr val="6B7280"/>
                </a:solidFill>
                <a:latin typeface="Aptos"/>
                <a:cs typeface="Aptos"/>
              </a:rPr>
              <a:t>jan-abr até 15/04</a:t>
            </a:r>
            <a:endParaRPr lang="pt-BR" sz="1350"/>
          </a:p>
        </p:txBody>
      </p:sp>
      <p:sp>
        <p:nvSpPr>
          <p:cNvPr id="4" name="B"/>
          <p:cNvSpPr txBox="1"/>
          <p:nvPr/>
        </p:nvSpPr>
        <p:spPr>
          <a:xfrm>
            <a:off x="6900000" y="2200000"/>
            <a:ext cx="5600000" cy="26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00" b="1">
                <a:solidFill>
                  <a:srgbClr val="6B7280"/>
                </a:solidFill>
                <a:latin typeface="Aptos"/>
                <a:cs typeface="Aptos"/>
              </a:rPr>
              <a:t>Estrutura abril até 15/04</a:t>
            </a:r>
            <a:endParaRPr lang="pt-BR" sz="1600"/>
          </a:p>
          <a:p>
            <a:pPr marL="0" indent="0"/>
            <a:r>
              <a:rPr lang="pt-BR" sz="2700" b="1">
                <a:solidFill>
                  <a:srgbClr val="17324C"/>
                </a:solidFill>
                <a:latin typeface="Aptos"/>
                <a:cs typeface="Aptos"/>
              </a:rPr>
              <a:t>R$ 1,53 mi</a:t>
            </a:r>
            <a:endParaRPr lang="pt-BR" sz="2700"/>
          </a:p>
          <a:p>
            <a:pPr marL="0" indent="0"/>
            <a:r>
              <a:rPr lang="pt-BR" sz="1350">
                <a:solidFill>
                  <a:srgbClr val="6B7280"/>
                </a:solidFill>
                <a:latin typeface="Aptos"/>
                <a:cs typeface="Aptos"/>
              </a:rPr>
              <a:t>run rate implícito de R$ 3,06 mi no mês</a:t>
            </a:r>
            <a:endParaRPr lang="pt-BR" sz="1350"/>
          </a:p>
        </p:txBody>
      </p:sp>
      <p:sp>
        <p:nvSpPr>
          <p:cNvPr id="5" name="C"/>
          <p:cNvSpPr txBox="1"/>
          <p:nvPr/>
        </p:nvSpPr>
        <p:spPr>
          <a:xfrm>
            <a:off x="12900000" y="2200000"/>
            <a:ext cx="6300000" cy="26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00" b="1">
                <a:solidFill>
                  <a:srgbClr val="6B7280"/>
                </a:solidFill>
                <a:latin typeface="Aptos"/>
                <a:cs typeface="Aptos"/>
              </a:rPr>
              <a:t>Produção abril até 15/04</a:t>
            </a:r>
            <a:endParaRPr lang="pt-BR" sz="1600"/>
          </a:p>
          <a:p>
            <a:pPr marL="0" indent="0"/>
            <a:r>
              <a:rPr lang="pt-BR" sz="2700" b="1">
                <a:solidFill>
                  <a:srgbClr val="17324C"/>
                </a:solidFill>
                <a:latin typeface="Aptos"/>
                <a:cs typeface="Aptos"/>
              </a:rPr>
              <a:t>R$ 2,20 mi</a:t>
            </a:r>
            <a:endParaRPr lang="pt-BR" sz="2700"/>
          </a:p>
          <a:p>
            <a:pPr marL="0" indent="0"/>
            <a:r>
              <a:rPr lang="pt-BR" sz="1350">
                <a:solidFill>
                  <a:srgbClr val="6B7280"/>
                </a:solidFill>
                <a:latin typeface="Aptos"/>
                <a:cs typeface="Aptos"/>
              </a:rPr>
              <a:t>pagamentos ligados a jobs</a:t>
            </a:r>
            <a:endParaRPr lang="pt-BR" sz="1350"/>
          </a:p>
        </p:txBody>
      </p:sp>
      <p:sp>
        <p:nvSpPr>
          <p:cNvPr id="6" name="D"/>
          <p:cNvSpPr txBox="1"/>
          <p:nvPr/>
        </p:nvSpPr>
        <p:spPr>
          <a:xfrm>
            <a:off x="900000" y="5200000"/>
            <a:ext cx="18300000" cy="2800000"/>
          </a:xfrm>
          <a:prstGeom prst="roundRect">
            <a:avLst/>
          </a:prstGeom>
          <a:solidFill>
            <a:srgbClr val="17324C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700" b="1">
                <a:solidFill>
                  <a:srgbClr val="FFFFFF"/>
                </a:solidFill>
                <a:latin typeface="Aptos"/>
                <a:cs typeface="Aptos"/>
              </a:rPr>
              <a:t>Leitura central</a:t>
            </a:r>
            <a:endParaRPr lang="pt-BR" sz="1700"/>
          </a:p>
          <a:p>
            <a:pPr marL="342900" indent="-171450">
              <a:buChar char="•"/>
            </a:pPr>
            <a:r>
              <a:rPr lang="pt-BR" sz="1600">
                <a:solidFill>
                  <a:srgbClr val="FFFFFF"/>
                </a:solidFill>
                <a:latin typeface="Aptos"/>
                <a:cs typeface="Aptos"/>
              </a:rPr>
              <a:t>A despesa de estrutura segue muito pesada e uma parte relevante é controlável no curtíssimo prazo.</a:t>
            </a:r>
            <a:endParaRPr lang="pt-BR" sz="1600"/>
          </a:p>
          <a:p>
            <a:pPr marL="342900" indent="-171450">
              <a:buChar char="•"/>
            </a:pPr>
            <a:r>
              <a:rPr lang="pt-BR" sz="1600">
                <a:solidFill>
                  <a:srgbClr val="FFFFFF"/>
                </a:solidFill>
                <a:latin typeface="Aptos"/>
                <a:cs typeface="Aptos"/>
              </a:rPr>
              <a:t>Só retiradas, bancos/tarifas e consumos diversos somam R$ 367,8 mil até 15/04, ou 24,0% da estrutura do mês.</a:t>
            </a:r>
            <a:endParaRPr lang="pt-BR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900000" y="700000"/>
            <a:ext cx="180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30000" rIns="30000" bIns="30000"/>
          <a:lstStyle/>
          <a:p>
            <a:pPr marL="0" indent="0"/>
            <a:r>
              <a:rPr lang="pt-BR" sz="2700" b="1">
                <a:solidFill>
                  <a:srgbClr val="17324C"/>
                </a:solidFill>
                <a:latin typeface="Aptos"/>
                <a:cs typeface="Aptos"/>
              </a:rPr>
              <a:t>Composição da estrutura em abril</a:t>
            </a:r>
            <a:endParaRPr lang="pt-BR" sz="2700"/>
          </a:p>
        </p:txBody>
      </p:sp>
      <p:sp>
        <p:nvSpPr>
          <p:cNvPr id="3" name="C1"/>
          <p:cNvSpPr txBox="1"/>
          <p:nvPr/>
        </p:nvSpPr>
        <p:spPr>
          <a:xfrm>
            <a:off x="900000" y="22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50" b="1">
                <a:solidFill>
                  <a:srgbClr val="17324C"/>
                </a:solidFill>
                <a:latin typeface="Aptos"/>
                <a:cs typeface="Aptos"/>
              </a:rPr>
              <a:t>Outros estrutura</a:t>
            </a:r>
            <a:endParaRPr lang="pt-BR" sz="1650"/>
          </a:p>
          <a:p>
            <a:pPr marL="0" indent="0"/>
            <a:r>
              <a:rPr lang="pt-BR" sz="2400" b="1">
                <a:solidFill>
                  <a:srgbClr val="17324C"/>
                </a:solidFill>
                <a:latin typeface="Aptos"/>
                <a:cs typeface="Aptos"/>
              </a:rPr>
              <a:t>R$ 966,1 mil</a:t>
            </a:r>
            <a:endParaRPr lang="pt-BR" sz="2400"/>
          </a:p>
          <a:p>
            <a:pPr marL="0" indent="0"/>
            <a:r>
              <a:rPr lang="pt-BR" sz="1400">
                <a:solidFill>
                  <a:srgbClr val="6B7280"/>
                </a:solidFill>
                <a:latin typeface="Aptos"/>
                <a:cs typeface="Aptos"/>
              </a:rPr>
              <a:t>viagens, fornecedores externos e itens não recorrentes</a:t>
            </a:r>
            <a:endParaRPr lang="pt-BR" sz="1400"/>
          </a:p>
        </p:txBody>
      </p:sp>
      <p:sp>
        <p:nvSpPr>
          <p:cNvPr id="4" name="C2"/>
          <p:cNvSpPr txBox="1"/>
          <p:nvPr/>
        </p:nvSpPr>
        <p:spPr>
          <a:xfrm>
            <a:off x="7100000" y="22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50" b="1">
                <a:solidFill>
                  <a:srgbClr val="AF3527"/>
                </a:solidFill>
                <a:latin typeface="Aptos"/>
                <a:cs typeface="Aptos"/>
              </a:rPr>
              <a:t>Sócios/retiradas</a:t>
            </a:r>
            <a:endParaRPr lang="pt-BR" sz="1650"/>
          </a:p>
          <a:p>
            <a:pPr marL="0" indent="0"/>
            <a:r>
              <a:rPr lang="pt-BR" sz="2400" b="1">
                <a:solidFill>
                  <a:srgbClr val="AF3527"/>
                </a:solidFill>
                <a:latin typeface="Aptos"/>
                <a:cs typeface="Aptos"/>
              </a:rPr>
              <a:t>R$ 223,7 mil</a:t>
            </a:r>
            <a:endParaRPr lang="pt-BR" sz="2400"/>
          </a:p>
          <a:p>
            <a:pPr marL="0" indent="0"/>
            <a:r>
              <a:rPr lang="pt-BR" sz="1400">
                <a:solidFill>
                  <a:srgbClr val="6B7280"/>
                </a:solidFill>
                <a:latin typeface="Aptos"/>
                <a:cs typeface="Aptos"/>
              </a:rPr>
              <a:t>principal alavanca imediata de caixa</a:t>
            </a:r>
            <a:endParaRPr lang="pt-BR" sz="1400"/>
          </a:p>
        </p:txBody>
      </p:sp>
      <p:sp>
        <p:nvSpPr>
          <p:cNvPr id="5" name="C3"/>
          <p:cNvSpPr txBox="1"/>
          <p:nvPr/>
        </p:nvSpPr>
        <p:spPr>
          <a:xfrm>
            <a:off x="13300000" y="22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50" b="1">
                <a:solidFill>
                  <a:srgbClr val="AF3527"/>
                </a:solidFill>
                <a:latin typeface="Aptos"/>
                <a:cs typeface="Aptos"/>
              </a:rPr>
              <a:t>Bancos e tarifas</a:t>
            </a:r>
            <a:endParaRPr lang="pt-BR" sz="1650"/>
          </a:p>
          <a:p>
            <a:pPr marL="0" indent="0"/>
            <a:r>
              <a:rPr lang="pt-BR" sz="2400" b="1">
                <a:solidFill>
                  <a:srgbClr val="AF3527"/>
                </a:solidFill>
                <a:latin typeface="Aptos"/>
                <a:cs typeface="Aptos"/>
              </a:rPr>
              <a:t>R$ 103,4 mil</a:t>
            </a:r>
            <a:endParaRPr lang="pt-BR" sz="2400"/>
          </a:p>
          <a:p>
            <a:pPr marL="0" indent="0"/>
            <a:r>
              <a:rPr lang="pt-BR" sz="1400">
                <a:solidFill>
                  <a:srgbClr val="6B7280"/>
                </a:solidFill>
                <a:latin typeface="Aptos"/>
                <a:cs typeface="Aptos"/>
              </a:rPr>
              <a:t>consórcios, banco e encargos financeiros</a:t>
            </a:r>
            <a:endParaRPr lang="pt-BR" sz="1400"/>
          </a:p>
        </p:txBody>
      </p:sp>
      <p:sp>
        <p:nvSpPr>
          <p:cNvPr id="6" name="C4"/>
          <p:cNvSpPr txBox="1"/>
          <p:nvPr/>
        </p:nvSpPr>
        <p:spPr>
          <a:xfrm>
            <a:off x="900000" y="50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50" b="1">
                <a:solidFill>
                  <a:srgbClr val="17324C"/>
                </a:solidFill>
                <a:latin typeface="Aptos"/>
                <a:cs typeface="Aptos"/>
              </a:rPr>
              <a:t>Infraestrutura</a:t>
            </a:r>
            <a:endParaRPr lang="pt-BR" sz="1650"/>
          </a:p>
          <a:p>
            <a:pPr marL="0" indent="0"/>
            <a:r>
              <a:rPr lang="pt-BR" sz="2400" b="1">
                <a:solidFill>
                  <a:srgbClr val="17324C"/>
                </a:solidFill>
                <a:latin typeface="Aptos"/>
                <a:cs typeface="Aptos"/>
              </a:rPr>
              <a:t>R$ 80,8 mil</a:t>
            </a:r>
            <a:endParaRPr lang="pt-BR" sz="2400"/>
          </a:p>
          <a:p>
            <a:pPr marL="0" indent="0"/>
            <a:r>
              <a:rPr lang="pt-BR" sz="1400">
                <a:solidFill>
                  <a:srgbClr val="6B7280"/>
                </a:solidFill>
                <a:latin typeface="Aptos"/>
                <a:cs typeface="Aptos"/>
              </a:rPr>
              <a:t>aluguel/administração, limpeza, software e escritório</a:t>
            </a:r>
            <a:endParaRPr lang="pt-BR" sz="1400"/>
          </a:p>
        </p:txBody>
      </p:sp>
      <p:sp>
        <p:nvSpPr>
          <p:cNvPr id="7" name="C5"/>
          <p:cNvSpPr txBox="1"/>
          <p:nvPr/>
        </p:nvSpPr>
        <p:spPr>
          <a:xfrm>
            <a:off x="7100000" y="50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50" b="1">
                <a:solidFill>
                  <a:srgbClr val="AF3527"/>
                </a:solidFill>
                <a:latin typeface="Aptos"/>
                <a:cs typeface="Aptos"/>
              </a:rPr>
              <a:t>Diversos discricionários</a:t>
            </a:r>
            <a:endParaRPr lang="pt-BR" sz="1650"/>
          </a:p>
          <a:p>
            <a:pPr marL="0" indent="0"/>
            <a:r>
              <a:rPr lang="pt-BR" sz="2400" b="1">
                <a:solidFill>
                  <a:srgbClr val="AF3527"/>
                </a:solidFill>
                <a:latin typeface="Aptos"/>
                <a:cs typeface="Aptos"/>
              </a:rPr>
              <a:t>R$ 40,7 mil</a:t>
            </a:r>
            <a:endParaRPr lang="pt-BR" sz="2400"/>
          </a:p>
          <a:p>
            <a:pPr marL="0" indent="0"/>
            <a:r>
              <a:rPr lang="pt-BR" sz="1400">
                <a:solidFill>
                  <a:srgbClr val="6B7280"/>
                </a:solidFill>
                <a:latin typeface="Aptos"/>
                <a:cs typeface="Aptos"/>
              </a:rPr>
              <a:t>refeições, mercado, mobilidade e consumo</a:t>
            </a:r>
            <a:endParaRPr lang="pt-BR" sz="1400"/>
          </a:p>
        </p:txBody>
      </p:sp>
      <p:sp>
        <p:nvSpPr>
          <p:cNvPr id="8" name="C6"/>
          <p:cNvSpPr txBox="1"/>
          <p:nvPr/>
        </p:nvSpPr>
        <p:spPr>
          <a:xfrm>
            <a:off x="13300000" y="5000000"/>
            <a:ext cx="5800000" cy="24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50" b="1">
                <a:solidFill>
                  <a:srgbClr val="17324C"/>
                </a:solidFill>
                <a:latin typeface="Aptos"/>
                <a:cs typeface="Aptos"/>
              </a:rPr>
              <a:t>Benefícios e saúde</a:t>
            </a:r>
            <a:endParaRPr lang="pt-BR" sz="1650"/>
          </a:p>
          <a:p>
            <a:pPr marL="0" indent="0"/>
            <a:r>
              <a:rPr lang="pt-BR" sz="2400" b="1">
                <a:solidFill>
                  <a:srgbClr val="17324C"/>
                </a:solidFill>
                <a:latin typeface="Aptos"/>
                <a:cs typeface="Aptos"/>
              </a:rPr>
              <a:t>R$ 23,5 mil</a:t>
            </a:r>
            <a:endParaRPr lang="pt-BR" sz="2400"/>
          </a:p>
          <a:p>
            <a:pPr marL="0" indent="0"/>
            <a:r>
              <a:rPr lang="pt-BR" sz="1400">
                <a:solidFill>
                  <a:srgbClr val="6B7280"/>
                </a:solidFill>
                <a:latin typeface="Aptos"/>
                <a:cs typeface="Aptos"/>
              </a:rPr>
              <a:t>caju, omint, claro e correlatos</a:t>
            </a:r>
            <a:endParaRPr lang="pt-BR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900000" y="700000"/>
            <a:ext cx="180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30000" rIns="30000" bIns="30000"/>
          <a:lstStyle/>
          <a:p>
            <a:pPr marL="0" indent="0"/>
            <a:r>
              <a:rPr lang="pt-BR" sz="2700" b="1">
                <a:solidFill>
                  <a:srgbClr val="17324C"/>
                </a:solidFill>
                <a:latin typeface="Aptos"/>
                <a:cs typeface="Aptos"/>
              </a:rPr>
              <a:t>Top oportunidades de redução</a:t>
            </a:r>
            <a:endParaRPr lang="pt-BR" sz="2700"/>
          </a:p>
        </p:txBody>
      </p:sp>
      <p:sp>
        <p:nvSpPr>
          <p:cNvPr id="3" name="O1"/>
          <p:cNvSpPr txBox="1"/>
          <p:nvPr/>
        </p:nvSpPr>
        <p:spPr>
          <a:xfrm>
            <a:off x="900000" y="2200000"/>
            <a:ext cx="5800000" cy="25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50" b="1">
                <a:solidFill>
                  <a:srgbClr val="AF3527"/>
                </a:solidFill>
                <a:latin typeface="Aptos"/>
                <a:cs typeface="Aptos"/>
              </a:rPr>
              <a:t>1. Retiradas dos sócios</a:t>
            </a:r>
            <a:endParaRPr lang="pt-BR" sz="1650"/>
          </a:p>
          <a:p>
            <a:pPr marL="0" indent="0"/>
            <a:r>
              <a:rPr lang="pt-BR" sz="1500">
                <a:solidFill>
                  <a:srgbClr val="233447"/>
                </a:solidFill>
                <a:latin typeface="Aptos"/>
                <a:cs typeface="Aptos"/>
              </a:rPr>
              <a:t>R$ 186 mil em abril até 15/04 + R$ 37,7 mil em CDR.</a:t>
            </a:r>
            <a:endParaRPr lang="pt-BR" sz="1500"/>
          </a:p>
          <a:p>
            <a:pPr marL="0" indent="0"/>
            <a:r>
              <a:rPr lang="pt-BR" sz="1350">
                <a:solidFill>
                  <a:srgbClr val="6B7280"/>
                </a:solidFill>
                <a:latin typeface="Aptos"/>
                <a:cs typeface="Aptos"/>
              </a:rPr>
              <a:t>Impacto imediato se houver suspensão temporária.</a:t>
            </a:r>
            <a:endParaRPr lang="pt-BR" sz="1350"/>
          </a:p>
        </p:txBody>
      </p:sp>
      <p:sp>
        <p:nvSpPr>
          <p:cNvPr id="4" name="O2"/>
          <p:cNvSpPr txBox="1"/>
          <p:nvPr/>
        </p:nvSpPr>
        <p:spPr>
          <a:xfrm>
            <a:off x="7100000" y="2200000"/>
            <a:ext cx="5800000" cy="25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50" b="1">
                <a:solidFill>
                  <a:srgbClr val="AF3527"/>
                </a:solidFill>
                <a:latin typeface="Aptos"/>
                <a:cs typeface="Aptos"/>
              </a:rPr>
              <a:t>2. Consumo discricionário</a:t>
            </a:r>
            <a:endParaRPr lang="pt-BR" sz="1650"/>
          </a:p>
          <a:p>
            <a:pPr marL="0" indent="0"/>
            <a:r>
              <a:rPr lang="pt-BR" sz="1500">
                <a:solidFill>
                  <a:srgbClr val="233447"/>
                </a:solidFill>
                <a:latin typeface="Aptos"/>
                <a:cs typeface="Aptos"/>
              </a:rPr>
              <a:t>Lindt, mercado, restaurantes, padaria, Uber e compras avulsas.</a:t>
            </a:r>
            <a:endParaRPr lang="pt-BR" sz="1500"/>
          </a:p>
          <a:p>
            <a:pPr marL="0" indent="0"/>
            <a:r>
              <a:rPr lang="pt-BR" sz="1350">
                <a:solidFill>
                  <a:srgbClr val="6B7280"/>
                </a:solidFill>
                <a:latin typeface="Aptos"/>
                <a:cs typeface="Aptos"/>
              </a:rPr>
              <a:t>Corte simples e simbólico para disciplinar caixa.</a:t>
            </a:r>
            <a:endParaRPr lang="pt-BR" sz="1350"/>
          </a:p>
        </p:txBody>
      </p:sp>
      <p:sp>
        <p:nvSpPr>
          <p:cNvPr id="5" name="O3"/>
          <p:cNvSpPr txBox="1"/>
          <p:nvPr/>
        </p:nvSpPr>
        <p:spPr>
          <a:xfrm>
            <a:off x="13300000" y="2200000"/>
            <a:ext cx="5800000" cy="25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50" b="1">
                <a:solidFill>
                  <a:srgbClr val="AF3527"/>
                </a:solidFill>
                <a:latin typeface="Aptos"/>
                <a:cs typeface="Aptos"/>
              </a:rPr>
              <a:t>3. Serviços renegociáveis</a:t>
            </a:r>
            <a:endParaRPr lang="pt-BR" sz="1650"/>
          </a:p>
          <a:p>
            <a:pPr marL="0" indent="0"/>
            <a:r>
              <a:rPr lang="pt-BR" sz="1500">
                <a:solidFill>
                  <a:srgbClr val="233447"/>
                </a:solidFill>
                <a:latin typeface="Aptos"/>
                <a:cs typeface="Aptos"/>
              </a:rPr>
              <a:t>Claro, Levycam, Control-E, Sem Parar e afins.</a:t>
            </a:r>
            <a:endParaRPr lang="pt-BR" sz="1500"/>
          </a:p>
          <a:p>
            <a:pPr marL="0" indent="0"/>
            <a:r>
              <a:rPr lang="pt-BR" sz="1350">
                <a:solidFill>
                  <a:srgbClr val="6B7280"/>
                </a:solidFill>
                <a:latin typeface="Aptos"/>
                <a:cs typeface="Aptos"/>
              </a:rPr>
              <a:t>Redução depende de revisão de plano/uso.</a:t>
            </a:r>
            <a:endParaRPr lang="pt-BR" sz="1350"/>
          </a:p>
        </p:txBody>
      </p:sp>
      <p:sp>
        <p:nvSpPr>
          <p:cNvPr id="6" name="O4"/>
          <p:cNvSpPr txBox="1"/>
          <p:nvPr/>
        </p:nvSpPr>
        <p:spPr>
          <a:xfrm>
            <a:off x="900000" y="5100000"/>
            <a:ext cx="18300000" cy="2800000"/>
          </a:xfrm>
          <a:prstGeom prst="roundRect">
            <a:avLst/>
          </a:prstGeom>
          <a:solidFill>
            <a:srgbClr val="17324C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700" b="1">
                <a:solidFill>
                  <a:srgbClr val="FFFFFF"/>
                </a:solidFill>
                <a:latin typeface="Aptos"/>
                <a:cs typeface="Aptos"/>
              </a:rPr>
              <a:t>Meta sugerida</a:t>
            </a:r>
            <a:endParaRPr lang="pt-BR" sz="1700"/>
          </a:p>
          <a:p>
            <a:pPr marL="342900" indent="-171450">
              <a:buChar char="•"/>
            </a:pPr>
            <a:r>
              <a:rPr lang="pt-BR" sz="1600">
                <a:solidFill>
                  <a:srgbClr val="FFFFFF"/>
                </a:solidFill>
                <a:latin typeface="Aptos"/>
                <a:cs typeface="Aptos"/>
              </a:rPr>
              <a:t>Cortar pelo menos R$ 250 mil de saídas controláveis no curto prazo.</a:t>
            </a:r>
            <a:endParaRPr lang="pt-BR" sz="1600"/>
          </a:p>
          <a:p>
            <a:pPr marL="342900" indent="-171450">
              <a:buChar char="•"/>
            </a:pPr>
            <a:r>
              <a:rPr lang="pt-BR" sz="1600">
                <a:solidFill>
                  <a:srgbClr val="FFFFFF"/>
                </a:solidFill>
                <a:latin typeface="Aptos"/>
                <a:cs typeface="Aptos"/>
              </a:rPr>
              <a:t>A maior parte pode vir da trava de retiradas e da poda de gastos de conveniência.</a:t>
            </a:r>
            <a:endParaRPr lang="pt-BR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900000" y="700000"/>
            <a:ext cx="180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30000" rIns="30000" bIns="30000"/>
          <a:lstStyle/>
          <a:p>
            <a:pPr marL="0" indent="0"/>
            <a:r>
              <a:rPr lang="pt-BR" sz="2700" b="1">
                <a:solidFill>
                  <a:srgbClr val="17324C"/>
                </a:solidFill>
                <a:latin typeface="Aptos"/>
                <a:cs typeface="Aptos"/>
              </a:rPr>
              <a:t>Plano de redução em 30 dias</a:t>
            </a:r>
            <a:endParaRPr lang="pt-BR" sz="2700"/>
          </a:p>
        </p:txBody>
      </p:sp>
      <p:sp>
        <p:nvSpPr>
          <p:cNvPr id="3" name="P1"/>
          <p:cNvSpPr txBox="1"/>
          <p:nvPr/>
        </p:nvSpPr>
        <p:spPr>
          <a:xfrm>
            <a:off x="900000" y="2200000"/>
            <a:ext cx="5800000" cy="25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50" b="1">
                <a:solidFill>
                  <a:srgbClr val="17324C"/>
                </a:solidFill>
                <a:latin typeface="Aptos"/>
                <a:cs typeface="Aptos"/>
              </a:rPr>
              <a:t>Governança</a:t>
            </a:r>
            <a:endParaRPr lang="pt-BR" sz="1650"/>
          </a:p>
          <a:p>
            <a:pPr marL="0" indent="0"/>
            <a:r>
              <a:rPr lang="pt-BR" sz="1500">
                <a:solidFill>
                  <a:srgbClr val="233447"/>
                </a:solidFill>
                <a:latin typeface="Aptos"/>
                <a:cs typeface="Aptos"/>
              </a:rPr>
              <a:t>Aprovação prévia para qualquer despesa fora de folha, tributo ou fornecedor crítico.</a:t>
            </a:r>
            <a:endParaRPr lang="pt-BR" sz="1500"/>
          </a:p>
        </p:txBody>
      </p:sp>
      <p:sp>
        <p:nvSpPr>
          <p:cNvPr id="4" name="P2"/>
          <p:cNvSpPr txBox="1"/>
          <p:nvPr/>
        </p:nvSpPr>
        <p:spPr>
          <a:xfrm>
            <a:off x="7100000" y="2200000"/>
            <a:ext cx="5800000" cy="25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50" b="1">
                <a:solidFill>
                  <a:srgbClr val="17324C"/>
                </a:solidFill>
                <a:latin typeface="Aptos"/>
                <a:cs typeface="Aptos"/>
              </a:rPr>
              <a:t>Política de caixa</a:t>
            </a:r>
            <a:endParaRPr lang="pt-BR" sz="1650"/>
          </a:p>
          <a:p>
            <a:pPr marL="0" indent="0"/>
            <a:r>
              <a:rPr lang="pt-BR" sz="1500">
                <a:solidFill>
                  <a:srgbClr val="233447"/>
                </a:solidFill>
                <a:latin typeface="Aptos"/>
                <a:cs typeface="Aptos"/>
              </a:rPr>
              <a:t>Retiradas e reembolsos não essenciais condicionados à meta mínima de saldo.</a:t>
            </a:r>
            <a:endParaRPr lang="pt-BR" sz="1500"/>
          </a:p>
        </p:txBody>
      </p:sp>
      <p:sp>
        <p:nvSpPr>
          <p:cNvPr id="5" name="P3"/>
          <p:cNvSpPr txBox="1"/>
          <p:nvPr/>
        </p:nvSpPr>
        <p:spPr>
          <a:xfrm>
            <a:off x="13300000" y="2200000"/>
            <a:ext cx="5800000" cy="2500000"/>
          </a:xfrm>
          <a:prstGeom prst="roundRect">
            <a:avLst/>
          </a:prstGeom>
          <a:solidFill>
            <a:srgbClr val="FFF9F1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650" b="1">
                <a:solidFill>
                  <a:srgbClr val="17324C"/>
                </a:solidFill>
                <a:latin typeface="Aptos"/>
                <a:cs typeface="Aptos"/>
              </a:rPr>
              <a:t>Assinaturas e planos</a:t>
            </a:r>
            <a:endParaRPr lang="pt-BR" sz="1650"/>
          </a:p>
          <a:p>
            <a:pPr marL="0" indent="0"/>
            <a:r>
              <a:rPr lang="pt-BR" sz="1500">
                <a:solidFill>
                  <a:srgbClr val="233447"/>
                </a:solidFill>
                <a:latin typeface="Aptos"/>
                <a:cs typeface="Aptos"/>
              </a:rPr>
              <a:t>Revisão de telefonia, mobilidade, software e serviços financeiros.</a:t>
            </a:r>
            <a:endParaRPr lang="pt-BR" sz="1500"/>
          </a:p>
        </p:txBody>
      </p:sp>
      <p:sp>
        <p:nvSpPr>
          <p:cNvPr id="6" name="P4"/>
          <p:cNvSpPr txBox="1"/>
          <p:nvPr/>
        </p:nvSpPr>
        <p:spPr>
          <a:xfrm>
            <a:off x="900000" y="5100000"/>
            <a:ext cx="18300000" cy="2800000"/>
          </a:xfrm>
          <a:prstGeom prst="roundRect">
            <a:avLst/>
          </a:prstGeom>
          <a:solidFill>
            <a:srgbClr val="FDF1E8"/>
          </a:solidFill>
          <a:ln w="12700">
            <a:solidFill>
              <a:srgbClr val="E4D7C7"/>
            </a:solidFill>
          </a:ln>
        </p:spPr>
        <p:txBody>
          <a:bodyPr wrap="square" lIns="220000" tIns="180000" rIns="220000" bIns="180000"/>
          <a:lstStyle/>
          <a:p>
            <a:pPr marL="0" indent="0"/>
            <a:r>
              <a:rPr lang="pt-BR" sz="1700" b="1">
                <a:solidFill>
                  <a:srgbClr val="17324C"/>
                </a:solidFill>
                <a:latin typeface="Aptos"/>
                <a:cs typeface="Aptos"/>
              </a:rPr>
              <a:t>Mensagem final</a:t>
            </a:r>
            <a:endParaRPr lang="pt-BR" sz="1700"/>
          </a:p>
          <a:p>
            <a:pPr marL="342900" indent="-171450">
              <a:buChar char="•"/>
            </a:pPr>
            <a:r>
              <a:rPr lang="pt-BR" sz="1600">
                <a:solidFill>
                  <a:srgbClr val="334155"/>
                </a:solidFill>
                <a:latin typeface="Aptos"/>
                <a:cs typeface="Aptos"/>
              </a:rPr>
              <a:t>Oportunidade de corte existe sem mexer no core da operação.</a:t>
            </a:r>
            <a:endParaRPr lang="pt-BR" sz="1600"/>
          </a:p>
          <a:p>
            <a:pPr marL="342900" indent="-171450">
              <a:buChar char="•"/>
            </a:pPr>
            <a:r>
              <a:rPr lang="pt-BR" sz="1600">
                <a:solidFill>
                  <a:srgbClr val="334155"/>
                </a:solidFill>
                <a:latin typeface="Aptos"/>
                <a:cs typeface="Aptos"/>
              </a:rPr>
              <a:t>O melhor ganho de caixa vem de disciplina, não de corte cego.</a:t>
            </a:r>
            <a:endParaRPr lang="pt-BR" sz="1600"/>
          </a:p>
          <a:p>
            <a:pPr marL="342900" indent="-171450">
              <a:buChar char="•"/>
            </a:pPr>
            <a:r>
              <a:rPr lang="pt-BR" sz="1600">
                <a:solidFill>
                  <a:srgbClr val="334155"/>
                </a:solidFill>
                <a:latin typeface="Aptos"/>
                <a:cs typeface="Aptos"/>
              </a:rPr>
              <a:t>A régua deve separar custo estratégico de conveniência.</a:t>
            </a:r>
            <a:endParaRPr lang="pt-BR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1354</TotalTime>
  <Words>73</Words>
  <Application>Microsoft Office PowerPoint</Application>
  <PresentationFormat>Personalizar</PresentationFormat>
  <Paragraphs>26</Paragraphs>
  <Slides>15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Aptos</vt:lpstr>
      <vt:lpstr>Arial</vt:lpstr>
      <vt:lpstr>Gotham Book</vt:lpstr>
      <vt:lpstr>Gotham Ultra</vt:lpstr>
      <vt:lpstr>Office Theme</vt:lpstr>
      <vt:lpstr>Apresentação do PowerPoint</vt:lpstr>
      <vt:lpstr>Jobs realizados</vt:lpstr>
      <vt:lpstr>Volume de negócios </vt:lpstr>
      <vt:lpstr>Consolidado volume de negócios </vt:lpstr>
      <vt:lpstr>Comparativo VN últimos 3 anos </vt:lpstr>
      <vt:lpstr>Comparativo VN últimos 3 anos </vt:lpstr>
      <vt:lpstr>Análise de rentabilidade </vt:lpstr>
      <vt:lpstr>Visibilidade margens 1 e 2 </vt:lpstr>
      <vt:lpstr>Composição da rentabilidade </vt:lpstr>
      <vt:lpstr>Comparativo 2024/2025</vt:lpstr>
      <vt:lpstr>Orçamento 2026</vt:lpstr>
      <vt:lpstr>Faturamento janeiro e fevereiro 2026</vt:lpstr>
      <vt:lpstr>Rentabilidade até fevereiro 2026</vt:lpstr>
      <vt:lpstr>Despesas até fevereiro 2026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Emerson Lampada</cp:lastModifiedBy>
  <cp:revision>7</cp:revision>
  <dcterms:created xsi:type="dcterms:W3CDTF">2025-06-26T04:12:45Z</dcterms:created>
  <dcterms:modified xsi:type="dcterms:W3CDTF">2026-04-14T20:53:22Z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2025-06-26T00:00:00Z</vt:filetime>
  </property>
  <property fmtid="{D5CDD505-2E9C-101B-9397-08002B2CF9AE}" pid="3" name="Creator">
    <vt:lpwstr>Adobe InDesign 20.4 (Macintosh)</vt:lpwstr>
  </property>
  <property fmtid="{D5CDD505-2E9C-101B-9397-08002B2CF9AE}" pid="4" name="LastSaved">
    <vt:filetime>2025-06-26T00:00:00Z</vt:filetime>
  </property>
  <property fmtid="{D5CDD505-2E9C-101B-9397-08002B2CF9AE}" pid="5" name="Producer">
    <vt:lpwstr>Adobe PDF Library 17.0</vt:lpwstr>
  </property>
</Properties>
</file>
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7920"/>
    <a:srgbClr val="2C2A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>
      <p:cViewPr varScale="1">
        <p:scale>
          <a:sx n="64" d="100"/>
          <a:sy n="64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erson Lampada" userId="9d0f3f4075e52659" providerId="LiveId" clId="{92EF2085-AE1A-4F1C-8C28-F45AE6DD976D}"/>
    <pc:docChg chg="custSel addSld delSld modSld">
      <pc:chgData name="Emerson Lampada" userId="9d0f3f4075e52659" providerId="LiveId" clId="{92EF2085-AE1A-4F1C-8C28-F45AE6DD976D}" dt="2026-04-14T20:53:16.326" v="97" actId="47"/>
      <pc:docMkLst>
        <pc:docMk/>
      </pc:docMkLst>
      <pc:sldChg chg="addSp delSp modSp new del mod">
        <pc:chgData name="Emerson Lampada" userId="9d0f3f4075e52659" providerId="LiveId" clId="{92EF2085-AE1A-4F1C-8C28-F45AE6DD976D}" dt="2026-04-14T20:52:42.413" v="58" actId="47"/>
        <pc:sldMkLst>
          <pc:docMk/>
          <pc:sldMk cId="798320417" sldId="287"/>
        </pc:sldMkLst>
        <pc:spChg chg="del">
          <ac:chgData name="Emerson Lampada" userId="9d0f3f4075e52659" providerId="LiveId" clId="{92EF2085-AE1A-4F1C-8C28-F45AE6DD976D}" dt="2026-04-14T20:42:18.912" v="6" actId="478"/>
          <ac:spMkLst>
            <pc:docMk/>
            <pc:sldMk cId="798320417" sldId="287"/>
            <ac:spMk id="2" creationId="{C58B6C14-49CE-9F30-A158-6F4973ED9619}"/>
          </ac:spMkLst>
        </pc:spChg>
        <pc:spChg chg="del">
          <ac:chgData name="Emerson Lampada" userId="9d0f3f4075e52659" providerId="LiveId" clId="{92EF2085-AE1A-4F1C-8C28-F45AE6DD976D}" dt="2026-04-14T20:42:00.628" v="2" actId="478"/>
          <ac:spMkLst>
            <pc:docMk/>
            <pc:sldMk cId="798320417" sldId="287"/>
            <ac:spMk id="3" creationId="{2588344B-EC9E-FCA6-3E85-230E694AC462}"/>
          </ac:spMkLst>
        </pc:spChg>
        <pc:picChg chg="add mod">
          <ac:chgData name="Emerson Lampada" userId="9d0f3f4075e52659" providerId="LiveId" clId="{92EF2085-AE1A-4F1C-8C28-F45AE6DD976D}" dt="2026-04-14T20:42:13.651" v="5" actId="1076"/>
          <ac:picMkLst>
            <pc:docMk/>
            <pc:sldMk cId="798320417" sldId="287"/>
            <ac:picMk id="5" creationId="{6EC36C14-474B-426F-7600-EDEA32C98A3B}"/>
          </ac:picMkLst>
        </pc:picChg>
      </pc:sldChg>
      <pc:sldChg chg="del">
        <pc:chgData name="Emerson Lampada" userId="9d0f3f4075e52659" providerId="LiveId" clId="{92EF2085-AE1A-4F1C-8C28-F45AE6DD976D}" dt="2026-04-14T20:40:15.216" v="0" actId="47"/>
        <pc:sldMkLst>
          <pc:docMk/>
          <pc:sldMk cId="3697893240" sldId="287"/>
        </pc:sldMkLst>
      </pc:sldChg>
      <pc:sldChg chg="addSp delSp modSp new del mod">
        <pc:chgData name="Emerson Lampada" userId="9d0f3f4075e52659" providerId="LiveId" clId="{92EF2085-AE1A-4F1C-8C28-F45AE6DD976D}" dt="2026-04-14T20:53:16.326" v="97" actId="47"/>
        <pc:sldMkLst>
          <pc:docMk/>
          <pc:sldMk cId="159572280" sldId="288"/>
        </pc:sldMkLst>
        <pc:spChg chg="del">
          <ac:chgData name="Emerson Lampada" userId="9d0f3f4075e52659" providerId="LiveId" clId="{92EF2085-AE1A-4F1C-8C28-F45AE6DD976D}" dt="2026-04-14T20:42:47.293" v="8" actId="478"/>
          <ac:spMkLst>
            <pc:docMk/>
            <pc:sldMk cId="159572280" sldId="288"/>
            <ac:spMk id="3" creationId="{F8D57793-9EF7-6931-6A0D-31D444B45741}"/>
          </ac:spMkLst>
        </pc:spChg>
        <pc:picChg chg="add mod">
          <ac:chgData name="Emerson Lampada" userId="9d0f3f4075e52659" providerId="LiveId" clId="{92EF2085-AE1A-4F1C-8C28-F45AE6DD976D}" dt="2026-04-14T20:51:26.360" v="12" actId="1076"/>
          <ac:picMkLst>
            <pc:docMk/>
            <pc:sldMk cId="159572280" sldId="288"/>
            <ac:picMk id="5" creationId="{EB71D49D-52E1-858A-1749-C9E46061749C}"/>
          </ac:picMkLst>
        </pc:picChg>
      </pc:sldChg>
      <pc:sldChg chg="addSp delSp modSp add mod">
        <pc:chgData name="Emerson Lampada" userId="9d0f3f4075e52659" providerId="LiveId" clId="{92EF2085-AE1A-4F1C-8C28-F45AE6DD976D}" dt="2026-04-14T20:52:38.533" v="57" actId="1076"/>
        <pc:sldMkLst>
          <pc:docMk/>
          <pc:sldMk cId="2654235726" sldId="289"/>
        </pc:sldMkLst>
        <pc:spChg chg="mod">
          <ac:chgData name="Emerson Lampada" userId="9d0f3f4075e52659" providerId="LiveId" clId="{92EF2085-AE1A-4F1C-8C28-F45AE6DD976D}" dt="2026-04-14T20:52:23.068" v="55" actId="20577"/>
          <ac:spMkLst>
            <pc:docMk/>
            <pc:sldMk cId="2654235726" sldId="289"/>
            <ac:spMk id="7" creationId="{68096583-BC87-28D1-3418-37BA3967F310}"/>
          </ac:spMkLst>
        </pc:spChg>
        <pc:picChg chg="add mod">
          <ac:chgData name="Emerson Lampada" userId="9d0f3f4075e52659" providerId="LiveId" clId="{92EF2085-AE1A-4F1C-8C28-F45AE6DD976D}" dt="2026-04-14T20:52:38.533" v="57" actId="1076"/>
          <ac:picMkLst>
            <pc:docMk/>
            <pc:sldMk cId="2654235726" sldId="289"/>
            <ac:picMk id="8" creationId="{58E8CD6E-152A-E06E-D3E4-B196BCCBA5F0}"/>
          </ac:picMkLst>
        </pc:picChg>
        <pc:picChg chg="del">
          <ac:chgData name="Emerson Lampada" userId="9d0f3f4075e52659" providerId="LiveId" clId="{92EF2085-AE1A-4F1C-8C28-F45AE6DD976D}" dt="2026-04-14T20:52:09.966" v="15" actId="478"/>
          <ac:picMkLst>
            <pc:docMk/>
            <pc:sldMk cId="2654235726" sldId="289"/>
            <ac:picMk id="14" creationId="{FC0618C1-D65B-FFF4-58EB-7FEE3F670A03}"/>
          </ac:picMkLst>
        </pc:picChg>
        <pc:picChg chg="del">
          <ac:chgData name="Emerson Lampada" userId="9d0f3f4075e52659" providerId="LiveId" clId="{92EF2085-AE1A-4F1C-8C28-F45AE6DD976D}" dt="2026-04-14T20:52:10.712" v="16" actId="478"/>
          <ac:picMkLst>
            <pc:docMk/>
            <pc:sldMk cId="2654235726" sldId="289"/>
            <ac:picMk id="16" creationId="{5BA249CA-2ECB-75F7-65D5-A593ECD35EAB}"/>
          </ac:picMkLst>
        </pc:picChg>
        <pc:picChg chg="del">
          <ac:chgData name="Emerson Lampada" userId="9d0f3f4075e52659" providerId="LiveId" clId="{92EF2085-AE1A-4F1C-8C28-F45AE6DD976D}" dt="2026-04-14T20:52:11.537" v="17" actId="478"/>
          <ac:picMkLst>
            <pc:docMk/>
            <pc:sldMk cId="2654235726" sldId="289"/>
            <ac:picMk id="18" creationId="{6C1A547A-E6BE-236B-5955-EB4F67B507B6}"/>
          </ac:picMkLst>
        </pc:picChg>
      </pc:sldChg>
      <pc:sldChg chg="addSp delSp modSp add mod">
        <pc:chgData name="Emerson Lampada" userId="9d0f3f4075e52659" providerId="LiveId" clId="{92EF2085-AE1A-4F1C-8C28-F45AE6DD976D}" dt="2026-04-14T20:53:13.567" v="96" actId="1076"/>
        <pc:sldMkLst>
          <pc:docMk/>
          <pc:sldMk cId="729990412" sldId="290"/>
        </pc:sldMkLst>
        <pc:spChg chg="mod">
          <ac:chgData name="Emerson Lampada" userId="9d0f3f4075e52659" providerId="LiveId" clId="{92EF2085-AE1A-4F1C-8C28-F45AE6DD976D}" dt="2026-04-14T20:52:57.867" v="94" actId="20577"/>
          <ac:spMkLst>
            <pc:docMk/>
            <pc:sldMk cId="729990412" sldId="290"/>
            <ac:spMk id="7" creationId="{B9EC54B3-789F-7F77-6974-63B2F87B482C}"/>
          </ac:spMkLst>
        </pc:spChg>
        <pc:picChg chg="add mod">
          <ac:chgData name="Emerson Lampada" userId="9d0f3f4075e52659" providerId="LiveId" clId="{92EF2085-AE1A-4F1C-8C28-F45AE6DD976D}" dt="2026-04-14T20:53:13.567" v="96" actId="1076"/>
          <ac:picMkLst>
            <pc:docMk/>
            <pc:sldMk cId="729990412" sldId="290"/>
            <ac:picMk id="8" creationId="{90E84703-47AD-2E23-3D5B-1B9CD625B7E2}"/>
          </ac:picMkLst>
        </pc:picChg>
        <pc:picChg chg="del">
          <ac:chgData name="Emerson Lampada" userId="9d0f3f4075e52659" providerId="LiveId" clId="{92EF2085-AE1A-4F1C-8C28-F45AE6DD976D}" dt="2026-04-14T20:52:45.360" v="59" actId="478"/>
          <ac:picMkLst>
            <pc:docMk/>
            <pc:sldMk cId="729990412" sldId="290"/>
            <ac:picMk id="14" creationId="{8D0DAF5F-2130-ACAC-38AB-DDD60EA15689}"/>
          </ac:picMkLst>
        </pc:picChg>
        <pc:picChg chg="del">
          <ac:chgData name="Emerson Lampada" userId="9d0f3f4075e52659" providerId="LiveId" clId="{92EF2085-AE1A-4F1C-8C28-F45AE6DD976D}" dt="2026-04-14T20:52:46.303" v="60" actId="478"/>
          <ac:picMkLst>
            <pc:docMk/>
            <pc:sldMk cId="729990412" sldId="290"/>
            <ac:picMk id="16" creationId="{4A604220-20A3-1B01-E422-D103A08B332D}"/>
          </ac:picMkLst>
        </pc:picChg>
        <pc:picChg chg="del">
          <ac:chgData name="Emerson Lampada" userId="9d0f3f4075e52659" providerId="LiveId" clId="{92EF2085-AE1A-4F1C-8C28-F45AE6DD976D}" dt="2026-04-14T20:52:46.910" v="61" actId="478"/>
          <ac:picMkLst>
            <pc:docMk/>
            <pc:sldMk cId="729990412" sldId="290"/>
            <ac:picMk id="18" creationId="{79C54FD3-E9E0-1D2B-21D3-BB2D8F0124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9253B-2936-4E85-A3E1-E25A311DD535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A5BCF-B955-4B20-804E-F251967E59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38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912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0C03-6343-518D-4B8E-BC0CD641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B8BF7E-390B-C0C2-86CD-9E32BB160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4815B95-DA50-7736-86D0-C1A652980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61317B-1E1B-6F6C-AF6C-FAC49E369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931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ACA78-7B46-262A-5C43-62EB58CE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5B8256-4D1D-B227-9699-A690027D9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FB5EF2-C4D5-508E-BA97-5EC92555C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E860B5-DC97-A6B9-1D72-C1CD69C19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397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8F34-D78E-39FD-AA80-909DADB1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B7BE1C-14B6-39FC-5A2E-EEEABFA44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7FFCA98-876D-2103-3F31-812AF210D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EDA316-A9AB-C14E-7397-F8134A40E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370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22600" y="4832677"/>
            <a:ext cx="10458898" cy="194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otham Book"/>
                <a:cs typeface="Gotham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otham Book"/>
                <a:cs typeface="Gotham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2C2A2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6642" y="703990"/>
            <a:ext cx="13972462" cy="1549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9876" y="5557808"/>
            <a:ext cx="8180069" cy="41090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otham Book"/>
                <a:cs typeface="Gotham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850" b="1">
                <a:solidFill>
                  <a:srgbClr val="17324C"/>
                </a:solidFill>
                <a:latin typeface="Aptos"/>
                <a:cs typeface="Aptos"/>
              </a:rPr>
              <a:t>Board Integrado Financeiro e Despesas</a:t>
            </a:r>
            <a:endParaRPr lang="pt-BR" sz="2850"/>
          </a:p>
          <a:p>
            <a:pPr marL="0" indent="0"/>
            <a:r>
              <a:rPr lang="pt-BR" sz="1650">
                <a:solidFill>
                  <a:srgbClr val="6B7280"/>
                </a:solidFill>
                <a:latin typeface="Aptos"/>
                <a:cs typeface="Aptos"/>
              </a:rPr>
              <a:t>Lampada | base 2026-04-16</a:t>
            </a:r>
            <a:endParaRPr lang="pt-BR" sz="1650"/>
          </a:p>
        </p:txBody>
      </p:sp>
      <p:sp>
        <p:nvSpPr>
          <p:cNvPr id="3" name="Summary"/>
          <p:cNvSpPr txBox="1"/>
          <p:nvPr/>
        </p:nvSpPr>
        <p:spPr>
          <a:xfrm>
            <a:off x="900000" y="2200000"/>
            <a:ext cx="8000000" cy="3300000"/>
          </a:xfrm>
          <a:prstGeom prst="roundRect">
            <a:avLst/>
          </a:prstGeom>
          <a:solidFill>
            <a:srgbClr val="17324C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FFFFFF"/>
                </a:solidFill>
                <a:latin typeface="Aptos"/>
                <a:cs typeface="Aptos"/>
              </a:rPr>
              <a:t>Leitura executiva</a:t>
            </a:r>
            <a:endParaRPr lang="pt-BR" sz="17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A empresa tem carteira para recuperar caixa, mas precisa de disciplina tática no curto prazo.</a:t>
            </a:r>
            <a:endParaRPr lang="pt-BR" sz="16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A estrutura do mês segue pesada e há espaço real para reduzir saídas controláveis.</a:t>
            </a:r>
            <a:endParaRPr lang="pt-BR" sz="16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O board integrado deve ser acompanhado com ritual frequente até estabilização financeira.</a:t>
            </a:r>
            <a:endParaRPr lang="pt-BR" sz="1600"/>
          </a:p>
        </p:txBody>
      </p:sp>
      <p:sp>
        <p:nvSpPr>
          <p:cNvPr id="4" name="Cash"/>
          <p:cNvSpPr txBox="1"/>
          <p:nvPr/>
        </p:nvSpPr>
        <p:spPr>
          <a:xfrm>
            <a:off x="9500000" y="2200000"/>
            <a:ext cx="5000000" cy="22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450" b="1">
                <a:solidFill>
                  <a:srgbClr val="6B7280"/>
                </a:solidFill>
                <a:latin typeface="Aptos"/>
                <a:cs typeface="Aptos"/>
              </a:rPr>
              <a:t>Saldo final c/c projetado em 16/04/2026</a:t>
            </a:r>
            <a:endParaRPr lang="pt-BR" sz="1450"/>
          </a:p>
          <a:p>
            <a:pPr marL="0" indent="0"/>
            <a:r>
              <a:rPr lang="pt-BR" sz="2600" b="1">
                <a:solidFill>
                  <a:srgbClr val="2F7F4F"/>
                </a:solidFill>
                <a:latin typeface="Aptos"/>
                <a:cs typeface="Aptos"/>
              </a:rPr>
              <a:t>R$ 4.175.321,05</a:t>
            </a:r>
            <a:endParaRPr lang="pt-BR" sz="2600"/>
          </a:p>
        </p:txBody>
      </p:sp>
      <p:sp>
        <p:nvSpPr>
          <p:cNvPr id="5" name="Receivable"/>
          <p:cNvSpPr txBox="1"/>
          <p:nvPr/>
        </p:nvSpPr>
        <p:spPr>
          <a:xfrm>
            <a:off x="14800000" y="2200000"/>
            <a:ext cx="4400000" cy="22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450" b="1">
                <a:solidFill>
                  <a:srgbClr val="6B7280"/>
                </a:solidFill>
                <a:latin typeface="Aptos"/>
                <a:cs typeface="Aptos"/>
              </a:rPr>
              <a:t>A receber</a:t>
            </a:r>
            <a:endParaRPr lang="pt-BR" sz="1450"/>
          </a:p>
          <a:p>
            <a:pPr marL="0" indent="0"/>
            <a:r>
              <a:rPr lang="pt-BR" sz="2400" b="1">
                <a:solidFill>
                  <a:srgbClr val="17324C"/>
                </a:solidFill>
                <a:latin typeface="Aptos"/>
                <a:cs typeface="Aptos"/>
              </a:rPr>
              <a:t>R$ 4.485.615,95</a:t>
            </a:r>
            <a:endParaRPr lang="pt-BR" sz="2400"/>
          </a:p>
        </p:txBody>
      </p:sp>
      <p:sp>
        <p:nvSpPr>
          <p:cNvPr id="6" name="ToInvoice"/>
          <p:cNvSpPr txBox="1"/>
          <p:nvPr/>
        </p:nvSpPr>
        <p:spPr>
          <a:xfrm>
            <a:off x="9500000" y="4700000"/>
            <a:ext cx="5000000" cy="22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450" b="1">
                <a:solidFill>
                  <a:srgbClr val="6B7280"/>
                </a:solidFill>
                <a:latin typeface="Aptos"/>
                <a:cs typeface="Aptos"/>
              </a:rPr>
              <a:t>Previsto a faturar</a:t>
            </a:r>
            <a:endParaRPr lang="pt-BR" sz="1450"/>
          </a:p>
          <a:p>
            <a:pPr marL="0" indent="0"/>
            <a:r>
              <a:rPr lang="pt-BR" sz="2400" b="1">
                <a:solidFill>
                  <a:srgbClr val="17324C"/>
                </a:solidFill>
                <a:latin typeface="Aptos"/>
                <a:cs typeface="Aptos"/>
              </a:rPr>
              <a:t>R$ 0,00</a:t>
            </a:r>
            <a:endParaRPr lang="pt-BR" sz="2400"/>
          </a:p>
        </p:txBody>
      </p:sp>
      <p:sp>
        <p:nvSpPr>
          <p:cNvPr id="7" name="Structure"/>
          <p:cNvSpPr txBox="1"/>
          <p:nvPr/>
        </p:nvSpPr>
        <p:spPr>
          <a:xfrm>
            <a:off x="14800000" y="4700000"/>
            <a:ext cx="4400000" cy="22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450" b="1">
                <a:solidFill>
                  <a:srgbClr val="6B7280"/>
                </a:solidFill>
                <a:latin typeface="Aptos"/>
                <a:cs typeface="Aptos"/>
              </a:rPr>
              <a:t>Estrutura abril até a data-base</a:t>
            </a:r>
            <a:endParaRPr lang="pt-BR" sz="1450"/>
          </a:p>
          <a:p>
            <a:pPr marL="0" indent="0"/>
            <a:r>
              <a:rPr lang="pt-BR" sz="2400" b="1">
                <a:solidFill>
                  <a:srgbClr val="17324C"/>
                </a:solidFill>
                <a:latin typeface="Aptos"/>
                <a:cs typeface="Aptos"/>
              </a:rPr>
              <a:t>R$ 1.530.533,81</a:t>
            </a:r>
            <a:endParaRPr lang="pt-BR" sz="2400"/>
          </a:p>
        </p:txBody>
      </p:sp>
      <p:sp>
        <p:nvSpPr>
          <p:cNvPr id="8" name="Decisions"/>
          <p:cNvSpPr txBox="1"/>
          <p:nvPr/>
        </p:nvSpPr>
        <p:spPr>
          <a:xfrm>
            <a:off x="900000" y="6000000"/>
            <a:ext cx="18300000" cy="3200000"/>
          </a:xfrm>
          <a:prstGeom prst="roundRect">
            <a:avLst/>
          </a:prstGeom>
          <a:solidFill>
            <a:srgbClr val="FDF1E8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17324C"/>
                </a:solidFill>
                <a:latin typeface="Aptos"/>
                <a:cs typeface="Aptos"/>
              </a:rPr>
              <a:t>Deliberações recomendadas</a:t>
            </a:r>
            <a:endParaRPr lang="pt-BR" sz="17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Criar rotina diária de caixa até o saldo voltar ao positivo.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Aprovar trava temporária para retiradas e despesas fora do core.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Revisar semanalmente faturamento, cobrança, despesas e saldo mínimo.</a:t>
            </a:r>
            <a:endParaRPr lang="pt-BR" sz="15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Situação financeira atual</a:t>
            </a:r>
            <a:endParaRPr lang="pt-BR" sz="2700"/>
          </a:p>
        </p:txBody>
      </p:sp>
      <p:sp>
        <p:nvSpPr>
          <p:cNvPr id="3" name="CashNow"/>
          <p:cNvSpPr txBox="1"/>
          <p:nvPr/>
        </p:nvSpPr>
        <p:spPr>
          <a:xfrm>
            <a:off x="900000" y="2200000"/>
            <a:ext cx="56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Saldo final c/c projetado em 16/04/2026</a:t>
            </a:r>
            <a:endParaRPr lang="pt-BR" sz="1550"/>
          </a:p>
          <a:p>
            <a:pPr marL="0" indent="0"/>
            <a:r>
              <a:rPr lang="pt-BR" sz="2700" b="1">
                <a:solidFill>
                  <a:srgbClr val="2F7F4F"/>
                </a:solidFill>
                <a:latin typeface="Aptos"/>
                <a:cs typeface="Aptos"/>
              </a:rPr>
              <a:t>R$ 4.175.321,05</a:t>
            </a:r>
            <a:endParaRPr lang="pt-BR" sz="2700"/>
          </a:p>
        </p:txBody>
      </p:sp>
      <p:sp>
        <p:nvSpPr>
          <p:cNvPr id="4" name="CashYTD"/>
          <p:cNvSpPr txBox="1"/>
          <p:nvPr/>
        </p:nvSpPr>
        <p:spPr>
          <a:xfrm>
            <a:off x="6900000" y="2200000"/>
            <a:ext cx="56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Acumulado de 2026</a:t>
            </a:r>
            <a:endParaRPr lang="pt-BR" sz="1550"/>
          </a:p>
          <a:p>
            <a:pPr marL="0" indent="0"/>
            <a:r>
              <a:rPr lang="pt-BR" sz="2600" b="1">
                <a:solidFill>
                  <a:srgbClr val="2F7F4F"/>
                </a:solidFill>
                <a:latin typeface="Aptos"/>
                <a:cs typeface="Aptos"/>
              </a:rPr>
              <a:t>R$ 0,00</a:t>
            </a:r>
            <a:endParaRPr lang="pt-BR" sz="2600"/>
          </a:p>
        </p:txBody>
      </p:sp>
      <p:sp>
        <p:nvSpPr>
          <p:cNvPr id="5" name="Anticipated"/>
          <p:cNvSpPr txBox="1"/>
          <p:nvPr/>
        </p:nvSpPr>
        <p:spPr>
          <a:xfrm>
            <a:off x="12900000" y="2200000"/>
            <a:ext cx="63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Antecipados</a:t>
            </a:r>
            <a:endParaRPr lang="pt-BR" sz="155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R$ 0,00</a:t>
            </a:r>
            <a:endParaRPr lang="pt-BR" sz="2500"/>
          </a:p>
        </p:txBody>
      </p:sp>
      <p:sp>
        <p:nvSpPr>
          <p:cNvPr id="6" name="Critical"/>
          <p:cNvSpPr txBox="1"/>
          <p:nvPr/>
        </p:nvSpPr>
        <p:spPr>
          <a:xfrm>
            <a:off x="900000" y="5100000"/>
            <a:ext cx="18300000" cy="3200000"/>
          </a:xfrm>
          <a:prstGeom prst="roundRect">
            <a:avLst/>
          </a:prstGeom>
          <a:solidFill>
            <a:srgbClr val="FDF1E8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17324C"/>
                </a:solidFill>
                <a:latin typeface="Aptos"/>
                <a:cs typeface="Aptos"/>
              </a:rPr>
              <a:t>Pontos críticos</a:t>
            </a:r>
            <a:endParaRPr lang="pt-BR" sz="17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O problema atual é liquidez de curtíssimo prazo, não ausência de carteira.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O caixa imediato está em 4,175,321.05 e o acumulado do ano em 0.00.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A virada depende de cobrança, faturamento e contenção das saídas controláveis.</a:t>
            </a:r>
            <a:endParaRPr lang="pt-BR" sz="15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Agenda de caixa de curtíssimo prazo</a:t>
            </a:r>
            <a:endParaRPr lang="pt-BR" sz="2700"/>
          </a:p>
        </p:txBody>
      </p:sp>
      <p:sp>
        <p:nvSpPr>
          <p:cNvPr id="3" name="Actions"/>
          <p:cNvSpPr txBox="1"/>
          <p:nvPr/>
        </p:nvSpPr>
        <p:spPr>
          <a:xfrm>
            <a:off x="900000" y="2200000"/>
            <a:ext cx="18300000" cy="30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17324C"/>
                </a:solidFill>
                <a:latin typeface="Aptos"/>
                <a:cs typeface="Aptos"/>
              </a:rPr>
              <a:t>Ações imediatas</a:t>
            </a:r>
            <a:endParaRPr lang="pt-BR" sz="17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Emitir e cobrar os títulos mais próximos de liquidação.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Segurar retiradas e despesas discricionárias até o caixa voltar ao positivo.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Renegociar vencimentos relevantes de fornecedores para alongar o vale de caixa.</a:t>
            </a:r>
            <a:endParaRPr lang="pt-BR" sz="1550"/>
          </a:p>
        </p:txBody>
      </p:sp>
      <p:sp>
        <p:nvSpPr>
          <p:cNvPr id="4" name="Support1"/>
          <p:cNvSpPr txBox="1"/>
          <p:nvPr/>
        </p:nvSpPr>
        <p:spPr>
          <a:xfrm>
            <a:off x="900000" y="56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A receber</a:t>
            </a:r>
            <a:endParaRPr lang="pt-BR" sz="160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R$ 4.485.615,95</a:t>
            </a:r>
            <a:endParaRPr lang="pt-BR" sz="2500"/>
          </a:p>
        </p:txBody>
      </p:sp>
      <p:sp>
        <p:nvSpPr>
          <p:cNvPr id="5" name="Support2"/>
          <p:cNvSpPr txBox="1"/>
          <p:nvPr/>
        </p:nvSpPr>
        <p:spPr>
          <a:xfrm>
            <a:off x="7100000" y="56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Previsto a faturar</a:t>
            </a:r>
            <a:endParaRPr lang="pt-BR" sz="160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R$ 0,00</a:t>
            </a:r>
            <a:endParaRPr lang="pt-BR" sz="2500"/>
          </a:p>
        </p:txBody>
      </p:sp>
      <p:sp>
        <p:nvSpPr>
          <p:cNvPr id="6" name="Support3"/>
          <p:cNvSpPr txBox="1"/>
          <p:nvPr/>
        </p:nvSpPr>
        <p:spPr>
          <a:xfrm>
            <a:off x="13300000" y="56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Contingência de caixa</a:t>
            </a:r>
            <a:endParaRPr lang="pt-BR" sz="160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R$ 0,00</a:t>
            </a:r>
            <a:endParaRPr lang="pt-BR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Estrutura de despesas</a:t>
            </a:r>
            <a:endParaRPr lang="pt-BR" sz="2700"/>
          </a:p>
        </p:txBody>
      </p:sp>
      <p:sp>
        <p:nvSpPr>
          <p:cNvPr id="3" name="YTD"/>
          <p:cNvSpPr txBox="1"/>
          <p:nvPr/>
        </p:nvSpPr>
        <p:spPr>
          <a:xfrm>
            <a:off x="900000" y="2200000"/>
            <a:ext cx="56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Estrutura YTD</a:t>
            </a:r>
            <a:endParaRPr lang="pt-BR" sz="1550"/>
          </a:p>
          <a:p>
            <a:pPr marL="0" indent="0"/>
            <a:r>
              <a:rPr lang="pt-BR" sz="2600" b="1">
                <a:solidFill>
                  <a:srgbClr val="17324C"/>
                </a:solidFill>
                <a:latin typeface="Aptos"/>
                <a:cs typeface="Aptos"/>
              </a:rPr>
              <a:t>R$ 13.359.614,63</a:t>
            </a:r>
            <a:endParaRPr lang="pt-BR" sz="2600"/>
          </a:p>
        </p:txBody>
      </p:sp>
      <p:sp>
        <p:nvSpPr>
          <p:cNvPr id="4" name="MTD"/>
          <p:cNvSpPr txBox="1"/>
          <p:nvPr/>
        </p:nvSpPr>
        <p:spPr>
          <a:xfrm>
            <a:off x="6900000" y="2200000"/>
            <a:ext cx="56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Estrutura no mês</a:t>
            </a:r>
            <a:endParaRPr lang="pt-BR" sz="1550"/>
          </a:p>
          <a:p>
            <a:pPr marL="0" indent="0"/>
            <a:r>
              <a:rPr lang="pt-BR" sz="2600" b="1">
                <a:solidFill>
                  <a:srgbClr val="17324C"/>
                </a:solidFill>
                <a:latin typeface="Aptos"/>
                <a:cs typeface="Aptos"/>
              </a:rPr>
              <a:t>R$ 1.530.533,81</a:t>
            </a:r>
            <a:endParaRPr lang="pt-BR" sz="2600"/>
          </a:p>
        </p:txBody>
      </p:sp>
      <p:sp>
        <p:nvSpPr>
          <p:cNvPr id="5" name="RunRate"/>
          <p:cNvSpPr txBox="1"/>
          <p:nvPr/>
        </p:nvSpPr>
        <p:spPr>
          <a:xfrm>
            <a:off x="12900000" y="2200000"/>
            <a:ext cx="63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Run rate mensal implícito</a:t>
            </a:r>
            <a:endParaRPr lang="pt-BR" sz="155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R$ 2.869.750,89</a:t>
            </a:r>
            <a:endParaRPr lang="pt-BR" sz="2500"/>
          </a:p>
        </p:txBody>
      </p:sp>
      <p:sp>
        <p:nvSpPr>
          <p:cNvPr id="6" name="Control"/>
          <p:cNvSpPr txBox="1"/>
          <p:nvPr/>
        </p:nvSpPr>
        <p:spPr>
          <a:xfrm>
            <a:off x="900000" y="5100000"/>
            <a:ext cx="18300000" cy="3200000"/>
          </a:xfrm>
          <a:prstGeom prst="roundRect">
            <a:avLst/>
          </a:prstGeom>
          <a:solidFill>
            <a:srgbClr val="17324C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FFFFFF"/>
                </a:solidFill>
                <a:latin typeface="Aptos"/>
                <a:cs typeface="Aptos"/>
              </a:rPr>
              <a:t>Gastos controláveis</a:t>
            </a:r>
            <a:endParaRPr lang="pt-BR" sz="1700"/>
          </a:p>
          <a:p>
            <a:pPr marL="0" indent="0"/>
            <a:r>
              <a:rPr lang="pt-BR" sz="1800" b="1">
                <a:solidFill>
                  <a:srgbClr val="FFFFFF"/>
                </a:solidFill>
                <a:latin typeface="Aptos"/>
                <a:cs typeface="Aptos"/>
              </a:rPr>
              <a:t>R$ 376.801,69 | 24,6% da estrutura do mês</a:t>
            </a:r>
            <a:endParaRPr lang="pt-BR" sz="18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Travar retiradas dos sócios: 223,735.05 no mês-base.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Podar gastos discricionários: 49,705.42 no mês-base.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Renegociar bancos/tarifas e serviços: 103,361.22 no mês-base.</a:t>
            </a:r>
            <a:endParaRPr lang="pt-BR" sz="15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Composição da estrutura do mês</a:t>
            </a:r>
            <a:endParaRPr lang="pt-BR" sz="2700"/>
          </a:p>
        </p:txBody>
      </p:sp>
      <p:sp>
        <p:nvSpPr>
          <p:cNvPr id="3" name="Outros estrutura"/>
          <p:cNvSpPr txBox="1"/>
          <p:nvPr/>
        </p:nvSpPr>
        <p:spPr>
          <a:xfrm>
            <a:off x="9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Outros estrutura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R$ 931.040,26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Viagens, fornecedores externos e itens não recorrentes.</a:t>
            </a:r>
            <a:endParaRPr lang="pt-BR" sz="1350"/>
          </a:p>
        </p:txBody>
      </p:sp>
      <p:sp>
        <p:nvSpPr>
          <p:cNvPr id="4" name="Sócios/retiradas"/>
          <p:cNvSpPr txBox="1"/>
          <p:nvPr/>
        </p:nvSpPr>
        <p:spPr>
          <a:xfrm>
            <a:off x="71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Sócios/retiradas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R$ 223.735,05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Principal alavanca imediata de caixa.</a:t>
            </a:r>
            <a:endParaRPr lang="pt-BR" sz="1350"/>
          </a:p>
        </p:txBody>
      </p:sp>
      <p:sp>
        <p:nvSpPr>
          <p:cNvPr id="5" name="Bancos e tarifas"/>
          <p:cNvSpPr txBox="1"/>
          <p:nvPr/>
        </p:nvSpPr>
        <p:spPr>
          <a:xfrm>
            <a:off x="133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Bancos e tarifas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R$ 103.361,22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Consórcios, banco e encargos financeiros.</a:t>
            </a:r>
            <a:endParaRPr lang="pt-BR" sz="1350"/>
          </a:p>
        </p:txBody>
      </p:sp>
      <p:sp>
        <p:nvSpPr>
          <p:cNvPr id="6" name="Infraestrutura"/>
          <p:cNvSpPr txBox="1"/>
          <p:nvPr/>
        </p:nvSpPr>
        <p:spPr>
          <a:xfrm>
            <a:off x="900000" y="50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Infraestrutura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R$ 80.755,82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Administração, limpeza, software e escritório.</a:t>
            </a:r>
            <a:endParaRPr lang="pt-BR" sz="1350"/>
          </a:p>
        </p:txBody>
      </p:sp>
      <p:sp>
        <p:nvSpPr>
          <p:cNvPr id="7" name="Folha e equipe fixa"/>
          <p:cNvSpPr txBox="1"/>
          <p:nvPr/>
        </p:nvSpPr>
        <p:spPr>
          <a:xfrm>
            <a:off x="7100000" y="50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Folha e equipe fixa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R$ 70.228,65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Equipe fixa e pagamentos recorrentes da estrutura.</a:t>
            </a:r>
            <a:endParaRPr lang="pt-BR" sz="1350"/>
          </a:p>
        </p:txBody>
      </p:sp>
      <p:sp>
        <p:nvSpPr>
          <p:cNvPr id="8" name="Diversos discricionários"/>
          <p:cNvSpPr txBox="1"/>
          <p:nvPr/>
        </p:nvSpPr>
        <p:spPr>
          <a:xfrm>
            <a:off x="13300000" y="50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Diversos discricionários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R$ 49.705,42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Refeições, mercado, mobilidade e consumo.</a:t>
            </a:r>
            <a:endParaRPr lang="pt-BR"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Plano 30 dias e rotina de atualização</a:t>
            </a:r>
            <a:endParaRPr lang="pt-BR" sz="2700"/>
          </a:p>
        </p:txBody>
      </p:sp>
      <p:sp>
        <p:nvSpPr>
          <p:cNvPr id="3" name="Goal"/>
          <p:cNvSpPr txBox="1"/>
          <p:nvPr/>
        </p:nvSpPr>
        <p:spPr>
          <a:xfrm>
            <a:off x="9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Meta de redução</a:t>
            </a:r>
            <a:endParaRPr lang="pt-BR" sz="1600"/>
          </a:p>
          <a:p>
            <a:pPr marL="0" indent="0"/>
            <a:r>
              <a:rPr lang="pt-BR" sz="2500" b="1">
                <a:solidFill>
                  <a:srgbClr val="AF3527"/>
                </a:solidFill>
                <a:latin typeface="Aptos"/>
                <a:cs typeface="Aptos"/>
              </a:rPr>
              <a:t>R$ 256.225,15</a:t>
            </a:r>
            <a:endParaRPr lang="pt-BR" sz="2500"/>
          </a:p>
        </p:txBody>
      </p:sp>
      <p:sp>
        <p:nvSpPr>
          <p:cNvPr id="4" name="How"/>
          <p:cNvSpPr txBox="1"/>
          <p:nvPr/>
        </p:nvSpPr>
        <p:spPr>
          <a:xfrm>
            <a:off x="7100000" y="2200000"/>
            <a:ext cx="120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Como atualizar este board</a:t>
            </a:r>
            <a:endParaRPr lang="pt-BR" sz="1600"/>
          </a:p>
          <a:p>
            <a:pPr marL="342900" indent="-171450">
              <a:buChar char="•"/>
            </a:pPr>
            <a:r>
              <a:rPr lang="pt-BR" sz="1500">
                <a:solidFill>
                  <a:srgbClr val="334155"/>
                </a:solidFill>
                <a:latin typeface="Aptos"/>
                <a:cs typeface="Aptos"/>
              </a:rPr>
              <a:t>Abra o arquivo JSON de input e troque apenas os valores.</a:t>
            </a:r>
            <a:endParaRPr lang="pt-BR" sz="1500"/>
          </a:p>
          <a:p>
            <a:pPr marL="342900" indent="-171450">
              <a:buChar char="•"/>
            </a:pPr>
            <a:r>
              <a:rPr lang="pt-BR" sz="1500">
                <a:solidFill>
                  <a:srgbClr val="334155"/>
                </a:solidFill>
                <a:latin typeface="Aptos"/>
                <a:cs typeface="Aptos"/>
              </a:rPr>
              <a:t>Rode o comando: python3 build_unified_board.py</a:t>
            </a:r>
            <a:endParaRPr lang="pt-BR" sz="1500"/>
          </a:p>
          <a:p>
            <a:pPr marL="342900" indent="-171450">
              <a:buChar char="•"/>
            </a:pPr>
            <a:r>
              <a:rPr lang="pt-BR" sz="1500">
                <a:solidFill>
                  <a:srgbClr val="334155"/>
                </a:solidFill>
                <a:latin typeface="Aptos"/>
                <a:cs typeface="Aptos"/>
              </a:rPr>
              <a:t>O PPTX será recriado com os números novos.</a:t>
            </a:r>
            <a:endParaRPr lang="pt-BR" sz="1500"/>
          </a:p>
        </p:txBody>
      </p:sp>
      <p:sp>
        <p:nvSpPr>
          <p:cNvPr id="5" name="Files"/>
          <p:cNvSpPr txBox="1"/>
          <p:nvPr/>
        </p:nvSpPr>
        <p:spPr>
          <a:xfrm>
            <a:off x="900000" y="5100000"/>
            <a:ext cx="18300000" cy="3000000"/>
          </a:xfrm>
          <a:prstGeom prst="roundRect">
            <a:avLst/>
          </a:prstGeom>
          <a:solidFill>
            <a:srgbClr val="FDF1E8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17324C"/>
                </a:solidFill>
                <a:latin typeface="Aptos"/>
                <a:cs typeface="Aptos"/>
              </a:rPr>
              <a:t>Arquivos-base do processo</a:t>
            </a:r>
            <a:endParaRPr lang="pt-BR" sz="17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Input editável: data/board_input_template.json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Gerador: build_unified_board.py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Saída padrão: Board_Integrado_Atualizavel.pptx</a:t>
            </a:r>
            <a:endParaRPr lang="pt-BR" sz="1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1354</TotalTime>
  <Words>73</Words>
  <Application>Microsoft Office PowerPoint</Application>
  <PresentationFormat>Personalizar</PresentationFormat>
  <Paragraphs>26</Paragraphs>
  <Slides>15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Arial</vt:lpstr>
      <vt:lpstr>Gotham Book</vt:lpstr>
      <vt:lpstr>Gotham Ultra</vt:lpstr>
      <vt:lpstr>Office Theme</vt:lpstr>
      <vt:lpstr>Apresentação do PowerPoint</vt:lpstr>
      <vt:lpstr>Jobs realizados</vt:lpstr>
      <vt:lpstr>Volume de negócios </vt:lpstr>
      <vt:lpstr>Consolidado volume de negócios </vt:lpstr>
      <vt:lpstr>Comparativo VN últimos 3 anos </vt:lpstr>
      <vt:lpstr>Comparativo VN últimos 3 anos </vt:lpstr>
      <vt:lpstr>Análise de rentabilidade </vt:lpstr>
      <vt:lpstr>Visibilidade margens 1 e 2 </vt:lpstr>
      <vt:lpstr>Composição da rentabilidade </vt:lpstr>
      <vt:lpstr>Comparativo 2024/2025</vt:lpstr>
      <vt:lpstr>Orçamento 2026</vt:lpstr>
      <vt:lpstr>Faturamento janeiro e fevereiro 2026</vt:lpstr>
      <vt:lpstr>Rentabilidade até fevereiro 2026</vt:lpstr>
      <vt:lpstr>Despesas até fevereiro 2026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Emerson Lampada</cp:lastModifiedBy>
  <cp:revision>7</cp:revision>
  <dcterms:created xsi:type="dcterms:W3CDTF">2025-06-26T04:12:45Z</dcterms:created>
  <dcterms:modified xsi:type="dcterms:W3CDTF">2026-04-14T20:53:22Z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2025-06-26T00:00:00Z</vt:filetime>
  </property>
  <property fmtid="{D5CDD505-2E9C-101B-9397-08002B2CF9AE}" pid="3" name="Creator">
    <vt:lpwstr>Adobe InDesign 20.4 (Macintosh)</vt:lpwstr>
  </property>
  <property fmtid="{D5CDD505-2E9C-101B-9397-08002B2CF9AE}" pid="4" name="LastSaved">
    <vt:filetime>2025-06-26T00:00:00Z</vt:filetime>
  </property>
  <property fmtid="{D5CDD505-2E9C-101B-9397-08002B2CF9AE}" pid="5" name="Producer">
    <vt:lpwstr>Adobe PDF Library 17.0</vt:lpwstr>
  </property>
</Properties>
</file>